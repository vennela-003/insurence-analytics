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9"/>
  </p:notesMasterIdLst>
  <p:sldIdLst>
    <p:sldId id="256" r:id="rId2"/>
    <p:sldId id="270" r:id="rId3"/>
    <p:sldId id="272" r:id="rId4"/>
    <p:sldId id="257" r:id="rId5"/>
    <p:sldId id="258" r:id="rId6"/>
    <p:sldId id="259" r:id="rId7"/>
    <p:sldId id="260" r:id="rId8"/>
    <p:sldId id="261" r:id="rId9"/>
    <p:sldId id="262" r:id="rId10"/>
    <p:sldId id="273" r:id="rId11"/>
    <p:sldId id="275" r:id="rId12"/>
    <p:sldId id="274" r:id="rId13"/>
    <p:sldId id="266" r:id="rId14"/>
    <p:sldId id="267" r:id="rId15"/>
    <p:sldId id="268" r:id="rId16"/>
    <p:sldId id="269" r:id="rId17"/>
    <p:sldId id="276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99A677-3E29-4932-A0E0-4F00623068C7}" v="22" dt="2025-12-15T06:00:23.7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015" autoAdjust="0"/>
    <p:restoredTop sz="73372" autoAdjust="0"/>
  </p:normalViewPr>
  <p:slideViewPr>
    <p:cSldViewPr snapToGrid="0">
      <p:cViewPr varScale="1">
        <p:scale>
          <a:sx n="82" d="100"/>
          <a:sy n="82" d="100"/>
        </p:scale>
        <p:origin x="3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anu dharani" userId="500bfe51444f0f73" providerId="LiveId" clId="{86EBCD75-AB1B-4959-A1BA-94B48181E735}"/>
    <pc:docChg chg="custSel modSld">
      <pc:chgData name="dhanu dharani" userId="500bfe51444f0f73" providerId="LiveId" clId="{86EBCD75-AB1B-4959-A1BA-94B48181E735}" dt="2025-12-15T06:03:28.419" v="47" actId="14100"/>
      <pc:docMkLst>
        <pc:docMk/>
      </pc:docMkLst>
      <pc:sldChg chg="modSp mod modAnim">
        <pc:chgData name="dhanu dharani" userId="500bfe51444f0f73" providerId="LiveId" clId="{86EBCD75-AB1B-4959-A1BA-94B48181E735}" dt="2025-12-15T06:00:40.139" v="34" actId="14100"/>
        <pc:sldMkLst>
          <pc:docMk/>
          <pc:sldMk cId="3974934305" sldId="257"/>
        </pc:sldMkLst>
        <pc:spChg chg="mod">
          <ac:chgData name="dhanu dharani" userId="500bfe51444f0f73" providerId="LiveId" clId="{86EBCD75-AB1B-4959-A1BA-94B48181E735}" dt="2025-12-15T06:00:40.139" v="34" actId="14100"/>
          <ac:spMkLst>
            <pc:docMk/>
            <pc:sldMk cId="3974934305" sldId="257"/>
            <ac:spMk id="2" creationId="{1A726485-BDBB-68AC-83B4-A3D72C44C22B}"/>
          </ac:spMkLst>
        </pc:spChg>
      </pc:sldChg>
      <pc:sldChg chg="modSp mod">
        <pc:chgData name="dhanu dharani" userId="500bfe51444f0f73" providerId="LiveId" clId="{86EBCD75-AB1B-4959-A1BA-94B48181E735}" dt="2025-12-15T06:02:24.912" v="41" actId="14100"/>
        <pc:sldMkLst>
          <pc:docMk/>
          <pc:sldMk cId="115789037" sldId="259"/>
        </pc:sldMkLst>
        <pc:spChg chg="mod">
          <ac:chgData name="dhanu dharani" userId="500bfe51444f0f73" providerId="LiveId" clId="{86EBCD75-AB1B-4959-A1BA-94B48181E735}" dt="2025-12-15T06:02:24.912" v="41" actId="14100"/>
          <ac:spMkLst>
            <pc:docMk/>
            <pc:sldMk cId="115789037" sldId="259"/>
            <ac:spMk id="2" creationId="{D198A3AF-EC37-0AFA-EA8E-64EA7A4F23A2}"/>
          </ac:spMkLst>
        </pc:spChg>
      </pc:sldChg>
      <pc:sldChg chg="modSp mod">
        <pc:chgData name="dhanu dharani" userId="500bfe51444f0f73" providerId="LiveId" clId="{86EBCD75-AB1B-4959-A1BA-94B48181E735}" dt="2025-12-15T06:01:57.758" v="37" actId="14100"/>
        <pc:sldMkLst>
          <pc:docMk/>
          <pc:sldMk cId="3195677118" sldId="260"/>
        </pc:sldMkLst>
        <pc:spChg chg="mod">
          <ac:chgData name="dhanu dharani" userId="500bfe51444f0f73" providerId="LiveId" clId="{86EBCD75-AB1B-4959-A1BA-94B48181E735}" dt="2025-12-15T06:01:57.758" v="37" actId="14100"/>
          <ac:spMkLst>
            <pc:docMk/>
            <pc:sldMk cId="3195677118" sldId="260"/>
            <ac:spMk id="3" creationId="{A8B3C7CD-6BEF-4FC4-0C7E-B500E63DA27E}"/>
          </ac:spMkLst>
        </pc:spChg>
      </pc:sldChg>
      <pc:sldChg chg="modSp mod">
        <pc:chgData name="dhanu dharani" userId="500bfe51444f0f73" providerId="LiveId" clId="{86EBCD75-AB1B-4959-A1BA-94B48181E735}" dt="2025-12-15T06:03:28.419" v="47" actId="14100"/>
        <pc:sldMkLst>
          <pc:docMk/>
          <pc:sldMk cId="1738409364" sldId="261"/>
        </pc:sldMkLst>
        <pc:spChg chg="mod">
          <ac:chgData name="dhanu dharani" userId="500bfe51444f0f73" providerId="LiveId" clId="{86EBCD75-AB1B-4959-A1BA-94B48181E735}" dt="2025-12-15T06:03:28.419" v="47" actId="14100"/>
          <ac:spMkLst>
            <pc:docMk/>
            <pc:sldMk cId="1738409364" sldId="261"/>
            <ac:spMk id="2" creationId="{E45B66B5-5AEB-EB61-3D4C-D6A50255ACC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BCB14D-A63D-4AFD-A8A0-89CB10DF2D3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B8D6AE-DA17-4A9A-A1B0-A869056E14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4707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B8D6AE-DA17-4A9A-A1B0-A869056E149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63258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B8D6AE-DA17-4A9A-A1B0-A869056E1491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8279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B8D6AE-DA17-4A9A-A1B0-A869056E1491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65141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A2F31053-E92D-4ACF-8EB6-77D2CB98C77C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7CC12-99A7-422B-8169-FB441B325737}" type="slidenum">
              <a:rPr lang="en-IN" smtClean="0"/>
              <a:t>‹#›</a:t>
            </a:fld>
            <a:endParaRPr lang="en-IN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1239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31053-E92D-4ACF-8EB6-77D2CB98C77C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7CC12-99A7-422B-8169-FB441B3257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2719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31053-E92D-4ACF-8EB6-77D2CB98C77C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7CC12-99A7-422B-8169-FB441B325737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487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31053-E92D-4ACF-8EB6-77D2CB98C77C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7CC12-99A7-422B-8169-FB441B3257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1250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31053-E92D-4ACF-8EB6-77D2CB98C77C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7CC12-99A7-422B-8169-FB441B3257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8629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31053-E92D-4ACF-8EB6-77D2CB98C77C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7CC12-99A7-422B-8169-FB441B3257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935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31053-E92D-4ACF-8EB6-77D2CB98C77C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7CC12-99A7-422B-8169-FB441B3257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2734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31053-E92D-4ACF-8EB6-77D2CB98C77C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7CC12-99A7-422B-8169-FB441B3257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658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31053-E92D-4ACF-8EB6-77D2CB98C77C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7CC12-99A7-422B-8169-FB441B325737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6157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31053-E92D-4ACF-8EB6-77D2CB98C77C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7CC12-99A7-422B-8169-FB441B3257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0078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31053-E92D-4ACF-8EB6-77D2CB98C77C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7CC12-99A7-422B-8169-FB441B325737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7872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A2F31053-E92D-4ACF-8EB6-77D2CB98C77C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8E67CC12-99A7-422B-8169-FB441B325737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6991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fif"/><Relationship Id="rId5" Type="http://schemas.openxmlformats.org/officeDocument/2006/relationships/image" Target="../media/image4.jpeg"/><Relationship Id="rId4" Type="http://schemas.openxmlformats.org/officeDocument/2006/relationships/image" Target="../media/image3.jfi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f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f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f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f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3376AEC-56BE-4409-81CB-72A1E385ED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59968"/>
            <a:ext cx="12192000" cy="2298032"/>
          </a:xfrm>
          <a:prstGeom prst="rect">
            <a:avLst/>
          </a:prstGeom>
          <a:solidFill>
            <a:srgbClr val="664D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D950D3-EF58-DD3B-CFE9-2FB1E4B407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2795" y="4977464"/>
            <a:ext cx="7772400" cy="1463040"/>
          </a:xfrm>
        </p:spPr>
        <p:txBody>
          <a:bodyPr>
            <a:normAutofit/>
          </a:bodyPr>
          <a:lstStyle/>
          <a:p>
            <a:pPr algn="ctr"/>
            <a:r>
              <a:rPr lang="en-US" sz="6000" b="1" u="sng" cap="none" spc="0" dirty="0">
                <a:ln w="12700">
                  <a:solidFill>
                    <a:srgbClr val="FFC000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Amasis MT Pro Medium" panose="02040604050005020304" pitchFamily="18" charset="0"/>
              </a:rPr>
              <a:t>Insurance Analytics</a:t>
            </a:r>
            <a:endParaRPr lang="en-IN" sz="6000" b="1" u="sng" cap="none" spc="0" dirty="0">
              <a:ln w="12700">
                <a:solidFill>
                  <a:srgbClr val="FFC000"/>
                </a:solidFill>
                <a:prstDash val="solid"/>
              </a:ln>
              <a:solidFill>
                <a:srgbClr val="FFFFFF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Amasis MT Pro Medium" panose="020406040500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B3AFACB-957E-46FB-8C2F-F1DB582E9F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computer screen with graphs and charts&#10;&#10;AI-generated content may be incorrect.">
            <a:extLst>
              <a:ext uri="{FF2B5EF4-FFF2-40B4-BE49-F238E27FC236}">
                <a16:creationId xmlns:a16="http://schemas.microsoft.com/office/drawing/2014/main" id="{AB0EE498-ABF2-24E4-606D-4ED6168473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632" y="944981"/>
            <a:ext cx="2681481" cy="2681481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682797B-F1A0-469F-9997-3DF1F5A002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46548" y="822682"/>
            <a:ext cx="0" cy="2926080"/>
          </a:xfrm>
          <a:prstGeom prst="line">
            <a:avLst/>
          </a:prstGeom>
          <a:ln w="19050">
            <a:solidFill>
              <a:srgbClr val="F8B34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diagram of various business icons&#10;&#10;AI-generated content may be incorrect.">
            <a:extLst>
              <a:ext uri="{FF2B5EF4-FFF2-40B4-BE49-F238E27FC236}">
                <a16:creationId xmlns:a16="http://schemas.microsoft.com/office/drawing/2014/main" id="{728F6469-6CC8-BF80-543D-459FC1D942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" b="-3"/>
          <a:stretch>
            <a:fillRect/>
          </a:stretch>
        </p:blipFill>
        <p:spPr>
          <a:xfrm>
            <a:off x="3314171" y="944981"/>
            <a:ext cx="2681483" cy="2681483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3A79F37-F967-4461-BD0E-0DA8E24D8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6089" y="822682"/>
            <a:ext cx="0" cy="2926080"/>
          </a:xfrm>
          <a:prstGeom prst="line">
            <a:avLst/>
          </a:prstGeom>
          <a:ln w="19050">
            <a:solidFill>
              <a:srgbClr val="F8B34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smartphone with graph and arrow&#10;&#10;AI-generated content may be incorrect.">
            <a:extLst>
              <a:ext uri="{FF2B5EF4-FFF2-40B4-BE49-F238E27FC236}">
                <a16:creationId xmlns:a16="http://schemas.microsoft.com/office/drawing/2014/main" id="{C2CB699D-3162-C69C-116F-5905D996FE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83" r="17952" b="3"/>
          <a:stretch>
            <a:fillRect/>
          </a:stretch>
        </p:blipFill>
        <p:spPr>
          <a:xfrm>
            <a:off x="6143712" y="841592"/>
            <a:ext cx="2681483" cy="2888259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09AFCF3-1EB8-49F2-A9BF-C3E15AD37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905630" y="822682"/>
            <a:ext cx="0" cy="2926080"/>
          </a:xfrm>
          <a:prstGeom prst="line">
            <a:avLst/>
          </a:prstGeom>
          <a:ln w="19050">
            <a:solidFill>
              <a:srgbClr val="F8B34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-up of a word&#10;&#10;AI-generated content may be incorrect.">
            <a:extLst>
              <a:ext uri="{FF2B5EF4-FFF2-40B4-BE49-F238E27FC236}">
                <a16:creationId xmlns:a16="http://schemas.microsoft.com/office/drawing/2014/main" id="{1E76A8FE-61CA-7C33-4F41-2417C5DA7C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1" b="1"/>
          <a:stretch>
            <a:fillRect/>
          </a:stretch>
        </p:blipFill>
        <p:spPr>
          <a:xfrm>
            <a:off x="8986064" y="1203831"/>
            <a:ext cx="2693392" cy="2163783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201E715-7EA3-44AE-8BAA-D21BBB5C03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rgbClr val="F8B34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05191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CED2307-F79F-42F9-B81B-91F768E72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E5DB38FF-CE38-4D82-B9F2-DFE28A019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4BA0C938-1486-4635-9F6C-44D521FA6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42A7ABB-6A86-4A02-A072-FA82CDCE5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928" y="484632"/>
            <a:ext cx="11244036" cy="5880916"/>
          </a:xfrm>
          <a:prstGeom prst="rect">
            <a:avLst/>
          </a:prstGeom>
          <a:solidFill>
            <a:schemeClr val="bg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2E2032-968E-0DC3-B2CD-CB3CF5601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784" y="1593564"/>
            <a:ext cx="7020747" cy="522963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>
              <a:tabLst>
                <a:tab pos="0" algn="l"/>
              </a:tabLst>
            </a:pPr>
            <a:r>
              <a:rPr lang="en-US" sz="5100" spc="200" dirty="0"/>
              <a:t>  1. Pilli Venkata Dharani</a:t>
            </a:r>
            <a:br>
              <a:rPr lang="en-US" sz="5100" spc="200" dirty="0"/>
            </a:br>
            <a:r>
              <a:rPr lang="en-US" sz="5100" spc="200" dirty="0"/>
              <a:t>2. Ninar Vennela</a:t>
            </a:r>
            <a:br>
              <a:rPr lang="en-US" sz="5100" spc="200" dirty="0"/>
            </a:br>
            <a:r>
              <a:rPr lang="en-US" sz="5100" spc="200" dirty="0"/>
              <a:t>3. Mogasala Nihitha</a:t>
            </a:r>
            <a:br>
              <a:rPr lang="en-US" sz="5100" spc="200" dirty="0"/>
            </a:br>
            <a:r>
              <a:rPr lang="en-US" sz="5100" spc="200" dirty="0"/>
              <a:t>4. Shivam Gupta</a:t>
            </a:r>
            <a:br>
              <a:rPr lang="en-US" sz="5100" spc="200" dirty="0"/>
            </a:br>
            <a:r>
              <a:rPr lang="en-US" sz="5100" spc="200" dirty="0"/>
              <a:t>5. Shashank An</a:t>
            </a:r>
            <a:br>
              <a:rPr lang="en-US" sz="5100" spc="200" dirty="0"/>
            </a:br>
            <a:r>
              <a:rPr lang="en-US" sz="5100" spc="200" dirty="0"/>
              <a:t>6. Muthe DevikaSai</a:t>
            </a:r>
            <a:br>
              <a:rPr lang="en-US" sz="5100" spc="200" dirty="0"/>
            </a:br>
            <a:r>
              <a:rPr lang="en-US" sz="5100" spc="200" dirty="0"/>
              <a:t>7. Phalak Ahmed</a:t>
            </a:r>
            <a:br>
              <a:rPr lang="en-US" sz="5100" spc="200" dirty="0"/>
            </a:br>
            <a:endParaRPr lang="en-US" sz="5100" spc="200" dirty="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6916720-6D22-4D4B-BC19-23008C7DD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9935" y="1600200"/>
            <a:ext cx="0" cy="3657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E1F2FE5-73AB-2976-898D-633A7AD7AEDD}"/>
              </a:ext>
            </a:extLst>
          </p:cNvPr>
          <p:cNvSpPr txBox="1"/>
          <p:nvPr/>
        </p:nvSpPr>
        <p:spPr>
          <a:xfrm>
            <a:off x="648929" y="324465"/>
            <a:ext cx="34110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Group: 4</a:t>
            </a:r>
            <a:endParaRPr lang="en-IN" sz="60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7305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Rectangle 1048">
            <a:extLst>
              <a:ext uri="{FF2B5EF4-FFF2-40B4-BE49-F238E27FC236}">
                <a16:creationId xmlns:a16="http://schemas.microsoft.com/office/drawing/2014/main" id="{C61657BD-3333-446A-A16A-CBDC77C8E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52CAFF06-4D3A-42A5-8614-B1FA47EA0F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43467"/>
            <a:ext cx="10905066" cy="5571066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Definition: What is a Key Performance Indicator (KPI)?">
            <a:extLst>
              <a:ext uri="{FF2B5EF4-FFF2-40B4-BE49-F238E27FC236}">
                <a16:creationId xmlns:a16="http://schemas.microsoft.com/office/drawing/2014/main" id="{F0CA116C-B853-06D4-99FE-B5AC3C3EF0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1"/>
          <a:stretch>
            <a:fillRect/>
          </a:stretch>
        </p:blipFill>
        <p:spPr bwMode="auto">
          <a:xfrm>
            <a:off x="1719188" y="804333"/>
            <a:ext cx="8753621" cy="5249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47284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7">
            <a:extLst>
              <a:ext uri="{FF2B5EF4-FFF2-40B4-BE49-F238E27FC236}">
                <a16:creationId xmlns:a16="http://schemas.microsoft.com/office/drawing/2014/main" id="{4F6D2E95-5879-44A2-AB57-81DB5F99D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252753FF-BFE0-4D73-98FB-962BAA98BD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468548" cy="6858000"/>
          </a:xfrm>
          <a:prstGeom prst="rect">
            <a:avLst/>
          </a:prstGeom>
          <a:solidFill>
            <a:srgbClr val="2E2B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87C2A4FF-27EB-4517-8D52-BA9582281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rgbClr val="672C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A726485-BDBB-68AC-83B4-A3D72C44C22B}"/>
              </a:ext>
            </a:extLst>
          </p:cNvPr>
          <p:cNvSpPr txBox="1"/>
          <p:nvPr/>
        </p:nvSpPr>
        <p:spPr>
          <a:xfrm>
            <a:off x="762000" y="298579"/>
            <a:ext cx="4015273" cy="6204858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/>
          <a:p>
            <a:pPr algn="ctr" defTabSz="914400">
              <a:lnSpc>
                <a:spcPct val="90000"/>
              </a:lnSpc>
              <a:spcAft>
                <a:spcPts val="600"/>
              </a:spcAft>
              <a:buClr>
                <a:schemeClr val="accent2"/>
              </a:buClr>
            </a:pPr>
            <a:endParaRPr lang="en-US" sz="2500" b="1" u="sng" dirty="0">
              <a:solidFill>
                <a:srgbClr val="FFFFFF"/>
              </a:solidFill>
            </a:endParaRP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rgbClr val="FFFFFF"/>
                </a:solidFill>
              </a:rPr>
              <a:t>It shows the number of client meetings conducted by each Account Executive. 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Ø"/>
            </a:pPr>
            <a:endParaRPr lang="en-US" sz="2500" dirty="0">
              <a:solidFill>
                <a:srgbClr val="FFFFFF"/>
              </a:solidFill>
            </a:endParaRP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rgbClr val="FFFFFF"/>
                </a:solidFill>
              </a:rPr>
              <a:t>Highlights individual </a:t>
            </a:r>
            <a:r>
              <a:rPr lang="en-US" sz="2400" dirty="0">
                <a:solidFill>
                  <a:srgbClr val="FFFFFF"/>
                </a:solidFill>
              </a:rPr>
              <a:t>engagement</a:t>
            </a:r>
            <a:r>
              <a:rPr lang="en-US" sz="2500" dirty="0">
                <a:solidFill>
                  <a:srgbClr val="FFFFFF"/>
                </a:solidFill>
              </a:rPr>
              <a:t> and sales effort levels.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Ø"/>
            </a:pPr>
            <a:endParaRPr lang="en-US" sz="2500" dirty="0">
              <a:solidFill>
                <a:srgbClr val="FFFFFF"/>
              </a:solidFill>
            </a:endParaRP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rgbClr val="FFFFFF"/>
                </a:solidFill>
              </a:rPr>
              <a:t>It helps to identify high-performing and low-performing executives.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Ø"/>
            </a:pPr>
            <a:endParaRPr lang="en-US" sz="2500" dirty="0">
              <a:solidFill>
                <a:srgbClr val="FFFFFF"/>
              </a:solidFill>
            </a:endParaRP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rgbClr val="FFFFFF"/>
                </a:solidFill>
              </a:rPr>
              <a:t>Supports performance evaluation and workload analysis.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Ø"/>
            </a:pPr>
            <a:endParaRPr lang="en-US" sz="2500" dirty="0">
              <a:solidFill>
                <a:srgbClr val="FFFFFF"/>
              </a:solidFill>
            </a:endParaRPr>
          </a:p>
        </p:txBody>
      </p:sp>
      <p:pic>
        <p:nvPicPr>
          <p:cNvPr id="5" name="Content Placeholder 4" descr="A graph with purple bars&#10;&#10;AI-generated content may be incorrect.">
            <a:extLst>
              <a:ext uri="{FF2B5EF4-FFF2-40B4-BE49-F238E27FC236}">
                <a16:creationId xmlns:a16="http://schemas.microsoft.com/office/drawing/2014/main" id="{ACF9F254-538B-C781-ABF6-56CF17E7E1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20" b="-3"/>
          <a:stretch>
            <a:fillRect/>
          </a:stretch>
        </p:blipFill>
        <p:spPr>
          <a:xfrm>
            <a:off x="5779475" y="429670"/>
            <a:ext cx="6101598" cy="5699760"/>
          </a:xfrm>
          <a:prstGeom prst="rect">
            <a:avLst/>
          </a:prstGeom>
          <a:solidFill>
            <a:srgbClr val="FFFFFF">
              <a:shade val="85000"/>
            </a:srgbClr>
          </a:solidFill>
        </p:spPr>
      </p:pic>
    </p:spTree>
    <p:extLst>
      <p:ext uri="{BB962C8B-B14F-4D97-AF65-F5344CB8AC3E}">
        <p14:creationId xmlns:p14="http://schemas.microsoft.com/office/powerpoint/2010/main" val="39749343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78">
            <a:extLst>
              <a:ext uri="{FF2B5EF4-FFF2-40B4-BE49-F238E27FC236}">
                <a16:creationId xmlns:a16="http://schemas.microsoft.com/office/drawing/2014/main" id="{4F6D2E95-5879-44A2-AB57-81DB5F99D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252753FF-BFE0-4D73-98FB-962BAA98BD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468548" cy="6858000"/>
          </a:xfrm>
          <a:prstGeom prst="rect">
            <a:avLst/>
          </a:prstGeom>
          <a:solidFill>
            <a:srgbClr val="4D6A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87C2A4FF-27EB-4517-8D52-BA9582281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rgbClr val="71C2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C87D651-40EB-FB2C-4195-727B2E09B301}"/>
              </a:ext>
            </a:extLst>
          </p:cNvPr>
          <p:cNvSpPr txBox="1"/>
          <p:nvPr/>
        </p:nvSpPr>
        <p:spPr>
          <a:xfrm>
            <a:off x="838418" y="533400"/>
            <a:ext cx="3791711" cy="3931920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FFFFFF"/>
                </a:solidFill>
              </a:rPr>
              <a:t>The chart displays the number of invoices generated by each Account Executive.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Ø"/>
            </a:pPr>
            <a:endParaRPr lang="en-US" sz="2400" dirty="0">
              <a:solidFill>
                <a:srgbClr val="FFFFFF"/>
              </a:solidFill>
            </a:endParaRP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FFFFFF"/>
                </a:solidFill>
              </a:rPr>
              <a:t>It breaks down invoices into Cross-Sell, New, and Renewal categories.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Ø"/>
            </a:pPr>
            <a:endParaRPr lang="en-US" sz="2400" dirty="0">
              <a:solidFill>
                <a:srgbClr val="FFFFFF"/>
              </a:solidFill>
            </a:endParaRP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FFFFFF"/>
                </a:solidFill>
              </a:rPr>
              <a:t>Highlights individual contribution to revenue generation.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Ø"/>
            </a:pPr>
            <a:endParaRPr lang="en-US" sz="2400" dirty="0">
              <a:solidFill>
                <a:srgbClr val="FFFFFF"/>
              </a:solidFill>
            </a:endParaRP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FFFFFF"/>
                </a:solidFill>
              </a:rPr>
              <a:t>It helps to measure sales productivity and billing performance.</a:t>
            </a:r>
          </a:p>
        </p:txBody>
      </p:sp>
      <p:pic>
        <p:nvPicPr>
          <p:cNvPr id="5" name="Picture 4" descr="A graph of numbers and text&#10;&#10;AI-generated content may be incorrect.">
            <a:extLst>
              <a:ext uri="{FF2B5EF4-FFF2-40B4-BE49-F238E27FC236}">
                <a16:creationId xmlns:a16="http://schemas.microsoft.com/office/drawing/2014/main" id="{615A9E06-5DF2-9A78-72A9-62C16AEE85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4040" y="381000"/>
            <a:ext cx="6385560" cy="6309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1536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4F6D2E95-5879-44A2-AB57-81DB5F99D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52753FF-BFE0-4D73-98FB-962BAA98BD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468548" cy="6858000"/>
          </a:xfrm>
          <a:prstGeom prst="rect">
            <a:avLst/>
          </a:prstGeom>
          <a:solidFill>
            <a:srgbClr val="2E2B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7C2A4FF-27EB-4517-8D52-BA9582281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rgbClr val="CA57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198A3AF-EC37-0AFA-EA8E-64EA7A4F23A2}"/>
              </a:ext>
            </a:extLst>
          </p:cNvPr>
          <p:cNvSpPr txBox="1"/>
          <p:nvPr/>
        </p:nvSpPr>
        <p:spPr>
          <a:xfrm>
            <a:off x="978409" y="447869"/>
            <a:ext cx="3791711" cy="6288833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marL="457200" indent="-457200" defTabSz="914400">
              <a:lnSpc>
                <a:spcPct val="90000"/>
              </a:lnSpc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FFFFFF"/>
                </a:solidFill>
              </a:rPr>
              <a:t>The Pie chart compares total meetings conducted across two years.</a:t>
            </a:r>
          </a:p>
          <a:p>
            <a:pPr marL="457200" indent="-457200" defTabSz="914400">
              <a:lnSpc>
                <a:spcPct val="90000"/>
              </a:lnSpc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Ø"/>
            </a:pPr>
            <a:endParaRPr lang="en-US" sz="2600" dirty="0">
              <a:solidFill>
                <a:srgbClr val="FFFFFF"/>
              </a:solidFill>
            </a:endParaRPr>
          </a:p>
          <a:p>
            <a:pPr marL="457200" indent="-457200" defTabSz="914400">
              <a:lnSpc>
                <a:spcPct val="90000"/>
              </a:lnSpc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FFFFFF"/>
                </a:solidFill>
              </a:rPr>
              <a:t>Shows year-on-year change in client engagement.</a:t>
            </a:r>
          </a:p>
          <a:p>
            <a:pPr marL="457200" indent="-457200" defTabSz="914400">
              <a:lnSpc>
                <a:spcPct val="90000"/>
              </a:lnSpc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Ø"/>
            </a:pPr>
            <a:endParaRPr lang="en-US" sz="2600" dirty="0">
              <a:solidFill>
                <a:srgbClr val="FFFFFF"/>
              </a:solidFill>
            </a:endParaRPr>
          </a:p>
          <a:p>
            <a:pPr marL="457200" indent="-457200" defTabSz="914400">
              <a:lnSpc>
                <a:spcPct val="90000"/>
              </a:lnSpc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FFFFFF"/>
                </a:solidFill>
              </a:rPr>
              <a:t>It helps to understand business activity growth trend.</a:t>
            </a:r>
          </a:p>
          <a:p>
            <a:pPr marL="457200" indent="-457200" defTabSz="914400">
              <a:lnSpc>
                <a:spcPct val="90000"/>
              </a:lnSpc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Ø"/>
            </a:pPr>
            <a:endParaRPr lang="en-US" sz="2600" dirty="0">
              <a:solidFill>
                <a:srgbClr val="FFFFFF"/>
              </a:solidFill>
            </a:endParaRPr>
          </a:p>
          <a:p>
            <a:pPr marL="457200" indent="-457200" defTabSz="914400">
              <a:lnSpc>
                <a:spcPct val="90000"/>
              </a:lnSpc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FFFFFF"/>
                </a:solidFill>
              </a:rPr>
              <a:t>Highlights improvement in sales efforts over time.</a:t>
            </a:r>
          </a:p>
        </p:txBody>
      </p:sp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8363C02B-687C-3060-A1D5-60FE4E84E5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4604"/>
          <a:stretch>
            <a:fillRect/>
          </a:stretch>
        </p:blipFill>
        <p:spPr>
          <a:xfrm>
            <a:off x="5748529" y="350520"/>
            <a:ext cx="6108191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890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F6D2E95-5879-44A2-AB57-81DB5F99D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52753FF-BFE0-4D73-98FB-962BAA98BD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468548" cy="6858000"/>
          </a:xfrm>
          <a:prstGeom prst="rect">
            <a:avLst/>
          </a:prstGeom>
          <a:solidFill>
            <a:srgbClr val="1E3A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7C2A4FF-27EB-4517-8D52-BA9582281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rgbClr val="CD70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8B3C7CD-6BEF-4FC4-0C7E-B500E63DA27E}"/>
              </a:ext>
            </a:extLst>
          </p:cNvPr>
          <p:cNvSpPr txBox="1"/>
          <p:nvPr/>
        </p:nvSpPr>
        <p:spPr>
          <a:xfrm>
            <a:off x="761999" y="457200"/>
            <a:ext cx="4465313" cy="5999584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/>
          <a:p>
            <a:pPr marL="457200" indent="-457200" defTabSz="914400">
              <a:lnSpc>
                <a:spcPct val="90000"/>
              </a:lnSpc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FFFFFF"/>
                </a:solidFill>
              </a:rPr>
              <a:t>The chart shows the distribution of opportunities across different insurance products.</a:t>
            </a:r>
          </a:p>
          <a:p>
            <a:pPr marL="457200" indent="-457200" defTabSz="914400">
              <a:lnSpc>
                <a:spcPct val="90000"/>
              </a:lnSpc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Ø"/>
            </a:pPr>
            <a:endParaRPr lang="en-US" sz="2600" dirty="0">
              <a:solidFill>
                <a:srgbClr val="FFFFFF"/>
              </a:solidFill>
            </a:endParaRPr>
          </a:p>
          <a:p>
            <a:pPr marL="457200" indent="-457200" defTabSz="914400">
              <a:lnSpc>
                <a:spcPct val="90000"/>
              </a:lnSpc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FFFFFF"/>
                </a:solidFill>
              </a:rPr>
              <a:t>Highlights products generating the highest business opportunities.</a:t>
            </a:r>
          </a:p>
          <a:p>
            <a:pPr marL="457200" indent="-457200" defTabSz="914400">
              <a:lnSpc>
                <a:spcPct val="90000"/>
              </a:lnSpc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Ø"/>
            </a:pPr>
            <a:endParaRPr lang="en-US" sz="2600" dirty="0">
              <a:solidFill>
                <a:srgbClr val="FFFFFF"/>
              </a:solidFill>
            </a:endParaRPr>
          </a:p>
          <a:p>
            <a:pPr marL="457200" indent="-457200" defTabSz="914400">
              <a:lnSpc>
                <a:spcPct val="90000"/>
              </a:lnSpc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FFFFFF"/>
                </a:solidFill>
              </a:rPr>
              <a:t>It helps to identify high-demand and low-demand insurance segments.</a:t>
            </a:r>
          </a:p>
          <a:p>
            <a:pPr marL="457200" indent="-457200" defTabSz="914400">
              <a:lnSpc>
                <a:spcPct val="90000"/>
              </a:lnSpc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Ø"/>
            </a:pPr>
            <a:endParaRPr lang="en-US" sz="2600" dirty="0">
              <a:solidFill>
                <a:srgbClr val="FFFFFF"/>
              </a:solidFill>
            </a:endParaRPr>
          </a:p>
          <a:p>
            <a:pPr marL="457200" indent="-457200" defTabSz="914400">
              <a:lnSpc>
                <a:spcPct val="90000"/>
              </a:lnSpc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FFFFFF"/>
                </a:solidFill>
              </a:rPr>
              <a:t>Supports product-focused sales and marketing strategy.</a:t>
            </a:r>
          </a:p>
        </p:txBody>
      </p:sp>
      <p:pic>
        <p:nvPicPr>
          <p:cNvPr id="5" name="Content Placeholder 4" descr="A pink and white bar chart&#10;&#10;AI-generated content may be incorrect.">
            <a:extLst>
              <a:ext uri="{FF2B5EF4-FFF2-40B4-BE49-F238E27FC236}">
                <a16:creationId xmlns:a16="http://schemas.microsoft.com/office/drawing/2014/main" id="{162D1350-9711-16B4-E290-589CF0664C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1680" y="609600"/>
            <a:ext cx="605028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6771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5">
            <a:extLst>
              <a:ext uri="{FF2B5EF4-FFF2-40B4-BE49-F238E27FC236}">
                <a16:creationId xmlns:a16="http://schemas.microsoft.com/office/drawing/2014/main" id="{4F6D2E95-5879-44A2-AB57-81DB5F99D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52753FF-BFE0-4D73-98FB-962BAA98BD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468548" cy="6858000"/>
          </a:xfrm>
          <a:prstGeom prst="rect">
            <a:avLst/>
          </a:prstGeom>
          <a:solidFill>
            <a:srgbClr val="3E6C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87C2A4FF-27EB-4517-8D52-BA9582281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rgbClr val="0073F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45B66B5-5AEB-EB61-3D4C-D6A50255ACCE}"/>
              </a:ext>
            </a:extLst>
          </p:cNvPr>
          <p:cNvSpPr txBox="1"/>
          <p:nvPr/>
        </p:nvSpPr>
        <p:spPr>
          <a:xfrm>
            <a:off x="690465" y="615820"/>
            <a:ext cx="4366727" cy="5769739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/>
          <a:p>
            <a:pPr marL="457200" indent="-457200" defTabSz="914400">
              <a:lnSpc>
                <a:spcPct val="90000"/>
              </a:lnSpc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FFFFFF"/>
                </a:solidFill>
              </a:rPr>
              <a:t>The Funnel chart visualizes the flow of opportunities across sales stages.</a:t>
            </a:r>
          </a:p>
          <a:p>
            <a:pPr marL="457200" indent="-457200" defTabSz="914400">
              <a:lnSpc>
                <a:spcPct val="90000"/>
              </a:lnSpc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Ø"/>
            </a:pPr>
            <a:endParaRPr lang="en-US" sz="2600" dirty="0">
              <a:solidFill>
                <a:srgbClr val="FFFFFF"/>
              </a:solidFill>
            </a:endParaRPr>
          </a:p>
          <a:p>
            <a:pPr marL="457200" indent="-457200" defTabSz="914400">
              <a:lnSpc>
                <a:spcPct val="90000"/>
              </a:lnSpc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FFFFFF"/>
                </a:solidFill>
              </a:rPr>
              <a:t>It shows value drop-off from qualification to proposal stage.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2"/>
              </a:buClr>
            </a:pPr>
            <a:r>
              <a:rPr lang="en-US" sz="2600" dirty="0">
                <a:solidFill>
                  <a:srgbClr val="FFFFFF"/>
                </a:solidFill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pPr marL="457200" indent="-457200" defTabSz="914400">
              <a:lnSpc>
                <a:spcPct val="90000"/>
              </a:lnSpc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FFFFFF"/>
                </a:solidFill>
              </a:rPr>
              <a:t>It helps to identify conversion gaps in the sales pipeline.</a:t>
            </a:r>
          </a:p>
          <a:p>
            <a:pPr marL="457200" indent="-457200" defTabSz="914400">
              <a:lnSpc>
                <a:spcPct val="90000"/>
              </a:lnSpc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Ø"/>
            </a:pPr>
            <a:endParaRPr lang="en-US" sz="2600" dirty="0">
              <a:solidFill>
                <a:srgbClr val="FFFFFF"/>
              </a:solidFill>
            </a:endParaRPr>
          </a:p>
          <a:p>
            <a:pPr marL="457200" indent="-457200" defTabSz="914400">
              <a:lnSpc>
                <a:spcPct val="90000"/>
              </a:lnSpc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FFFFFF"/>
                </a:solidFill>
              </a:rPr>
              <a:t>Supports better forecasting and pipeline optimization.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E67B220-1348-9218-1546-1845FF5F7A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3"/>
          <a:stretch>
            <a:fillRect/>
          </a:stretch>
        </p:blipFill>
        <p:spPr>
          <a:xfrm>
            <a:off x="5791200" y="365760"/>
            <a:ext cx="6050280" cy="6019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11FB35-F95D-2F3D-8749-0B4816568171}"/>
              </a:ext>
            </a:extLst>
          </p:cNvPr>
          <p:cNvSpPr txBox="1"/>
          <p:nvPr/>
        </p:nvSpPr>
        <p:spPr>
          <a:xfrm>
            <a:off x="0" y="0"/>
            <a:ext cx="4059935" cy="685800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2"/>
              </a:buClr>
            </a:pP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84093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4F6D2E95-5879-44A2-AB57-81DB5F99D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52753FF-BFE0-4D73-98FB-962BAA98BD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468548" cy="6858000"/>
          </a:xfrm>
          <a:prstGeom prst="rect">
            <a:avLst/>
          </a:prstGeom>
          <a:solidFill>
            <a:srgbClr val="446E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7C2A4FF-27EB-4517-8D52-BA9582281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rgbClr val="0068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2E63724-F95E-44FD-DA13-E81A59C92A46}"/>
              </a:ext>
            </a:extLst>
          </p:cNvPr>
          <p:cNvSpPr txBox="1"/>
          <p:nvPr/>
        </p:nvSpPr>
        <p:spPr>
          <a:xfrm>
            <a:off x="838418" y="502920"/>
            <a:ext cx="3791711" cy="3931920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/>
          <a:p>
            <a:pPr marL="457200" indent="-457200" defTabSz="914400">
              <a:lnSpc>
                <a:spcPct val="90000"/>
              </a:lnSpc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FFFFFF"/>
                </a:solidFill>
              </a:rPr>
              <a:t>The chart highlights the top 5 opportunities by business value.</a:t>
            </a:r>
          </a:p>
          <a:p>
            <a:pPr marL="457200" indent="-457200" defTabSz="914400">
              <a:lnSpc>
                <a:spcPct val="90000"/>
              </a:lnSpc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Ø"/>
            </a:pPr>
            <a:endParaRPr lang="en-US" sz="2600" dirty="0">
              <a:solidFill>
                <a:srgbClr val="FFFFFF"/>
              </a:solidFill>
            </a:endParaRPr>
          </a:p>
          <a:p>
            <a:pPr marL="457200" indent="-457200" defTabSz="914400">
              <a:lnSpc>
                <a:spcPct val="90000"/>
              </a:lnSpc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FFFFFF"/>
                </a:solidFill>
              </a:rPr>
              <a:t>Shows revenue contribution from key insurance products.</a:t>
            </a:r>
          </a:p>
          <a:p>
            <a:pPr marL="457200" indent="-457200" defTabSz="914400">
              <a:lnSpc>
                <a:spcPct val="90000"/>
              </a:lnSpc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Ø"/>
            </a:pPr>
            <a:endParaRPr lang="en-US" sz="2600" dirty="0">
              <a:solidFill>
                <a:srgbClr val="FFFFFF"/>
              </a:solidFill>
            </a:endParaRPr>
          </a:p>
          <a:p>
            <a:pPr marL="457200" indent="-457200" defTabSz="914400">
              <a:lnSpc>
                <a:spcPct val="90000"/>
              </a:lnSpc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FFFFFF"/>
                </a:solidFill>
              </a:rPr>
              <a:t>It helps to identify high-priority opportunities.</a:t>
            </a:r>
          </a:p>
          <a:p>
            <a:pPr marL="457200" indent="-457200" defTabSz="914400">
              <a:lnSpc>
                <a:spcPct val="90000"/>
              </a:lnSpc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Ø"/>
            </a:pPr>
            <a:endParaRPr lang="en-US" sz="2600" dirty="0">
              <a:solidFill>
                <a:srgbClr val="FFFFFF"/>
              </a:solidFill>
            </a:endParaRPr>
          </a:p>
          <a:p>
            <a:pPr marL="457200" indent="-457200" defTabSz="914400">
              <a:lnSpc>
                <a:spcPct val="90000"/>
              </a:lnSpc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FFFFFF"/>
                </a:solidFill>
              </a:rPr>
              <a:t>Supports strategic decision-making and revenue focus.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2E59F4C-531E-AE69-EC7A-9119A1A38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936" b="-2"/>
          <a:stretch>
            <a:fillRect/>
          </a:stretch>
        </p:blipFill>
        <p:spPr>
          <a:xfrm>
            <a:off x="6096000" y="350520"/>
            <a:ext cx="5455921" cy="621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1243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4F19D98-A5BA-4BE2-ACFB-4ED9DBA915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rgbClr val="86E3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2771BF6-C55E-9BDC-E238-942E603E18F9}"/>
              </a:ext>
            </a:extLst>
          </p:cNvPr>
          <p:cNvSpPr txBox="1"/>
          <p:nvPr/>
        </p:nvSpPr>
        <p:spPr>
          <a:xfrm>
            <a:off x="320039" y="5303520"/>
            <a:ext cx="10372541" cy="144780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600" dirty="0"/>
              <a:t>The query find opportunities for each Account Executives Closed_Won and compare it with their total opportunities.  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95C9445-4D77-B034-6F62-133C6F7F49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31" b="2"/>
          <a:stretch>
            <a:fillRect/>
          </a:stretch>
        </p:blipFill>
        <p:spPr>
          <a:xfrm>
            <a:off x="190499" y="106680"/>
            <a:ext cx="11811001" cy="5074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3365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4F19D98-A5BA-4BE2-ACFB-4ED9DBA915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rgbClr val="6ED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2C8CB01-6494-2BD2-66EA-09C9F66C8FF1}"/>
              </a:ext>
            </a:extLst>
          </p:cNvPr>
          <p:cNvSpPr txBox="1"/>
          <p:nvPr/>
        </p:nvSpPr>
        <p:spPr>
          <a:xfrm>
            <a:off x="341194" y="5431809"/>
            <a:ext cx="10890913" cy="1050877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marL="457200" indent="-457200" defTabSz="914400">
              <a:lnSpc>
                <a:spcPct val="90000"/>
              </a:lnSpc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600" dirty="0"/>
              <a:t>This query identifies all opportunities in the negotiate stage and groups them by Account Executive and Branch.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394FAC3-2B35-5659-95D3-669302C7F2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" b="14682"/>
          <a:stretch>
            <a:fillRect/>
          </a:stretch>
        </p:blipFill>
        <p:spPr>
          <a:xfrm>
            <a:off x="147947" y="160609"/>
            <a:ext cx="11887919" cy="479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6866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4F19D98-A5BA-4BE2-ACFB-4ED9DBA915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rgbClr val="8AE3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00B4D95-A96B-6AAE-9D09-516CC6EFD1D3}"/>
              </a:ext>
            </a:extLst>
          </p:cNvPr>
          <p:cNvSpPr txBox="1"/>
          <p:nvPr/>
        </p:nvSpPr>
        <p:spPr>
          <a:xfrm>
            <a:off x="227463" y="5378171"/>
            <a:ext cx="10549173" cy="1307009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600" dirty="0"/>
              <a:t>This query filters only Open stages and Count how many opportunities are pending for each Account Executive and Branch. 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AEDFE91-CFB4-1E99-3538-87599AB5DC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" b="4327"/>
          <a:stretch>
            <a:fillRect/>
          </a:stretch>
        </p:blipFill>
        <p:spPr>
          <a:xfrm>
            <a:off x="227462" y="242484"/>
            <a:ext cx="11646089" cy="4766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5926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92DD8-71A5-EF81-D63C-8FC8F0383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1921"/>
            <a:ext cx="5265174" cy="487680"/>
          </a:xfrm>
        </p:spPr>
        <p:txBody>
          <a:bodyPr>
            <a:noAutofit/>
          </a:bodyPr>
          <a:lstStyle/>
          <a:p>
            <a:r>
              <a:rPr lang="en-US" sz="4400" u="sng" dirty="0"/>
              <a:t>EXCEL Dashboard</a:t>
            </a:r>
            <a:endParaRPr lang="en-IN" sz="4400" u="sng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3F407EB-DEE0-45A7-8D9C-905C9E848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rgbClr val="5188C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6EDA77C-7A9E-B353-A7BC-641D3D9908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19" y="634180"/>
            <a:ext cx="11980349" cy="6101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1469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90548-DEEA-599E-21C2-06B2D6D51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4401"/>
            <a:ext cx="4800600" cy="549275"/>
          </a:xfrm>
        </p:spPr>
        <p:txBody>
          <a:bodyPr>
            <a:noAutofit/>
          </a:bodyPr>
          <a:lstStyle/>
          <a:p>
            <a:r>
              <a:rPr lang="en-US" sz="4400" u="sng" dirty="0"/>
              <a:t>Power bi dashboard</a:t>
            </a:r>
            <a:endParaRPr lang="en-IN" sz="4400" u="sng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1C36CC0-DC6E-68AB-26B4-AFA915C0B6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3676"/>
            <a:ext cx="12192002" cy="6194323"/>
          </a:xfrm>
        </p:spPr>
      </p:pic>
    </p:spTree>
    <p:extLst>
      <p:ext uri="{BB962C8B-B14F-4D97-AF65-F5344CB8AC3E}">
        <p14:creationId xmlns:p14="http://schemas.microsoft.com/office/powerpoint/2010/main" val="25871587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174B8-3211-6BC2-CD97-AE4B0C762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1200"/>
            <a:ext cx="4401312" cy="496824"/>
          </a:xfrm>
        </p:spPr>
        <p:txBody>
          <a:bodyPr>
            <a:noAutofit/>
          </a:bodyPr>
          <a:lstStyle/>
          <a:p>
            <a:r>
              <a:rPr lang="en-US" sz="4000" u="sng"/>
              <a:t>Tableau dashboard</a:t>
            </a:r>
            <a:endParaRPr lang="en-IN" sz="4000" u="sng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03D787B-6758-BE7B-4AAC-29A2C82C09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8024"/>
            <a:ext cx="12192000" cy="611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7253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025A6-0AD2-3934-E284-F54686D45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161" y="0"/>
            <a:ext cx="9720072" cy="1499616"/>
          </a:xfrm>
        </p:spPr>
        <p:txBody>
          <a:bodyPr>
            <a:normAutofit/>
          </a:bodyPr>
          <a:lstStyle/>
          <a:p>
            <a:r>
              <a:rPr lang="en-US" sz="6000" u="sng" dirty="0"/>
              <a:t>Conclusion</a:t>
            </a:r>
            <a:endParaRPr lang="en-IN" sz="6000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2E50D-2315-EF1A-0001-DA99AAFA7A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99616"/>
            <a:ext cx="12192001" cy="5358383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600" dirty="0"/>
              <a:t>  In conclusion, this Insurance Analytics project demonstrates how data can be transformed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600" dirty="0"/>
              <a:t>     actionable business insights using Excel, SQL, Power BI, and Tableau.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sz="2600" dirty="0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600" dirty="0"/>
              <a:t>  By analyzing sales performance, targets, and customer opportunities, this project enables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600" dirty="0"/>
              <a:t>     smarter decision-making, improved efficiency, and revenue growth.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sz="2600" dirty="0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600" dirty="0"/>
              <a:t>  Overall, this project highlights the importance of data analytics in driving strategic 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600" dirty="0"/>
              <a:t>     success in the insurance industry. </a:t>
            </a:r>
          </a:p>
        </p:txBody>
      </p:sp>
    </p:spTree>
    <p:extLst>
      <p:ext uri="{BB962C8B-B14F-4D97-AF65-F5344CB8AC3E}">
        <p14:creationId xmlns:p14="http://schemas.microsoft.com/office/powerpoint/2010/main" val="17252840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2E50D-2315-EF1A-0001-DA99AAFA7A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42596"/>
            <a:ext cx="12192001" cy="6615403"/>
          </a:xfrm>
        </p:spPr>
        <p:txBody>
          <a:bodyPr>
            <a:normAutofit/>
          </a:bodyPr>
          <a:lstStyle/>
          <a:p>
            <a:pPr marL="0" indent="0" algn="ctr">
              <a:buClr>
                <a:schemeClr val="tx1"/>
              </a:buClr>
              <a:buNone/>
            </a:pPr>
            <a:endParaRPr lang="en-IN" sz="2600" dirty="0"/>
          </a:p>
          <a:p>
            <a:pPr marL="0" indent="0" algn="ctr">
              <a:buClr>
                <a:schemeClr val="tx1"/>
              </a:buClr>
              <a:buNone/>
            </a:pPr>
            <a:endParaRPr lang="en-IN" sz="2600" dirty="0"/>
          </a:p>
          <a:p>
            <a:pPr marL="0" indent="0" algn="ctr">
              <a:buClr>
                <a:schemeClr val="tx1"/>
              </a:buClr>
              <a:buNone/>
            </a:pPr>
            <a:endParaRPr lang="en-IN" sz="2600" dirty="0"/>
          </a:p>
          <a:p>
            <a:pPr marL="0" indent="0" algn="ctr">
              <a:buClr>
                <a:schemeClr val="tx1"/>
              </a:buClr>
              <a:buNone/>
            </a:pPr>
            <a:endParaRPr lang="en-IN" sz="6000" dirty="0"/>
          </a:p>
          <a:p>
            <a:pPr marL="0" indent="0" algn="ctr">
              <a:buClr>
                <a:schemeClr val="tx1"/>
              </a:buClr>
              <a:buNone/>
            </a:pPr>
            <a:r>
              <a:rPr lang="en-IN" sz="6000" b="1" dirty="0"/>
              <a:t>Thank you</a:t>
            </a:r>
          </a:p>
          <a:p>
            <a:pPr marL="0" indent="0" algn="ctr">
              <a:buClr>
                <a:schemeClr val="tx1"/>
              </a:buClr>
              <a:buNone/>
            </a:pPr>
            <a:endParaRPr lang="en-IN" sz="2600" dirty="0"/>
          </a:p>
          <a:p>
            <a:pPr marL="0" indent="0" algn="ctr">
              <a:buClr>
                <a:schemeClr val="tx1"/>
              </a:buClr>
              <a:buNone/>
            </a:pP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18693346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4825F1AF-8DBC-4E3D-9F3D-688338DA83F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1161</TotalTime>
  <Words>414</Words>
  <Application>Microsoft Office PowerPoint</Application>
  <PresentationFormat>Widescreen</PresentationFormat>
  <Paragraphs>71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ADLaM Display</vt:lpstr>
      <vt:lpstr>Amasis MT Pro Medium</vt:lpstr>
      <vt:lpstr>Aptos</vt:lpstr>
      <vt:lpstr>Tw Cen MT</vt:lpstr>
      <vt:lpstr>Tw Cen MT Condensed</vt:lpstr>
      <vt:lpstr>Wingdings</vt:lpstr>
      <vt:lpstr>Wingdings 3</vt:lpstr>
      <vt:lpstr>Integral</vt:lpstr>
      <vt:lpstr>Insurance Analytics</vt:lpstr>
      <vt:lpstr>  1. Pilli Venkata Dharani 2. Ninar Vennela 3. Mogasala Nihitha 4. Shivam Gupta 5. Shashank An 6. Muthe DevikaSai 7. Phalak Ahmed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EXCEL Dashboard</vt:lpstr>
      <vt:lpstr>Power bi dashboard</vt:lpstr>
      <vt:lpstr>Tableau dashboard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h4785</dc:creator>
  <cp:lastModifiedBy>dhanu dharani</cp:lastModifiedBy>
  <cp:revision>23</cp:revision>
  <dcterms:created xsi:type="dcterms:W3CDTF">2025-12-13T14:37:47Z</dcterms:created>
  <dcterms:modified xsi:type="dcterms:W3CDTF">2025-12-15T06:03:34Z</dcterms:modified>
</cp:coreProperties>
</file>